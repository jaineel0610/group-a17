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7"/>
  </p:notesMasterIdLst>
  <p:handoutMasterIdLst>
    <p:handoutMasterId r:id="rId8"/>
  </p:handoutMasterIdLst>
  <p:sldIdLst>
    <p:sldId id="289" r:id="rId2"/>
    <p:sldId id="340" r:id="rId3"/>
    <p:sldId id="329" r:id="rId4"/>
    <p:sldId id="336" r:id="rId5"/>
    <p:sldId id="34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78"/>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10/12/2025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10/12/2025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b="0" dirty="0">
                <a:latin typeface="Calibri" panose="020F0502020204030204" pitchFamily="34" charset="0"/>
                <a:ea typeface="Calibri" panose="020F0502020204030204" pitchFamily="34" charset="0"/>
                <a:cs typeface="Calibri" panose="020F0502020204030204" pitchFamily="34" charset="0"/>
              </a:rPr>
              <a:t>Date:  10 -12 - 2025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A17                                                 Name of Student Presenting: Jaineel Chawla</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721895" y="274320"/>
            <a:ext cx="10698961" cy="736245"/>
          </a:xfrm>
        </p:spPr>
        <p:txBody>
          <a:bodyPr/>
          <a:lstStyle/>
          <a:p>
            <a:r>
              <a:rPr lang="en-GB" dirty="0"/>
              <a:t>7COM1079-2025  Student Group No: A17</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4660" y="1177135"/>
            <a:ext cx="9753625" cy="230832"/>
          </a:xfrm>
        </p:spPr>
        <p:txBody>
          <a:bodyPr vert="horz" lIns="0" tIns="0" rIns="0" bIns="0" rtlCol="0" anchor="t">
            <a:noAutofit/>
          </a:bodyPr>
          <a:lstStyle/>
          <a:p>
            <a:pPr>
              <a:spcAft>
                <a:spcPts val="0"/>
              </a:spcAft>
            </a:pPr>
            <a:r>
              <a:rPr lang="en-GB" dirty="0">
                <a:solidFill>
                  <a:schemeClr val="tx1"/>
                </a:solidFill>
                <a:cs typeface="Arial"/>
              </a:rPr>
              <a:t>Here is a sample of our dataset: </a:t>
            </a:r>
            <a:endParaRPr lang="en-GB" sz="1800" dirty="0">
              <a:solidFill>
                <a:schemeClr val="tx1"/>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829748" y="378136"/>
            <a:ext cx="7176911" cy="230832"/>
          </a:xfrm>
        </p:spPr>
        <p:txBody>
          <a:bodyPr/>
          <a:lstStyle/>
          <a:p>
            <a:r>
              <a:rPr lang="en-GB" b="1" dirty="0">
                <a:solidFill>
                  <a:schemeClr val="tx1"/>
                </a:solidFill>
              </a:rPr>
              <a:t>7COM1079-2025  Student Group No: A17</a:t>
            </a:r>
          </a:p>
          <a:p>
            <a:endParaRPr lang="en-GB" b="1" dirty="0">
              <a:solidFill>
                <a:schemeClr val="tx1"/>
              </a:solidFill>
            </a:endParaRPr>
          </a:p>
          <a:p>
            <a:br>
              <a:rPr lang="en-GB" b="1" dirty="0">
                <a:solidFill>
                  <a:schemeClr val="tx1"/>
                </a:solidFill>
              </a:rPr>
            </a:br>
            <a:endParaRPr lang="en-GB" b="1" dirty="0">
              <a:solidFill>
                <a:schemeClr val="tx1"/>
              </a:solidFill>
            </a:endParaRPr>
          </a:p>
          <a:p>
            <a:endParaRPr lang="en-GB" b="1" dirty="0">
              <a:solidFill>
                <a:schemeClr val="tx1"/>
              </a:solidFill>
            </a:endParaRP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5771" y="820519"/>
            <a:ext cx="622800" cy="230832"/>
          </a:xfrm>
        </p:spPr>
        <p:txBody>
          <a:bodyPr/>
          <a:lstStyle/>
          <a:p>
            <a:r>
              <a:rPr lang="en-US">
                <a:solidFill>
                  <a:schemeClr val="tx1"/>
                </a:solidFill>
              </a:rPr>
              <a:t>3</a:t>
            </a:r>
            <a:endParaRPr lang="en-GB">
              <a:solidFill>
                <a:schemeClr val="tx1"/>
              </a:solidFill>
            </a:endParaRPr>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713935" y="1839061"/>
            <a:ext cx="10925748" cy="3841804"/>
          </a:xfrm>
        </p:spPr>
        <p:txBody>
          <a:bodyPr>
            <a:normAutofit fontScale="90000"/>
          </a:bodyPr>
          <a:lstStyle/>
          <a:p>
            <a:pPr marL="742950" indent="-742950">
              <a:lnSpc>
                <a:spcPts val="2880"/>
              </a:lnSpc>
              <a:spcBef>
                <a:spcPts val="0"/>
              </a:spcBef>
              <a:spcAft>
                <a:spcPts val="992"/>
              </a:spcAft>
              <a:buAutoNum type="arabicPeriod"/>
            </a:pPr>
            <a:r>
              <a:rPr lang="en-GB" sz="3100" b="0" dirty="0">
                <a:latin typeface="Calibri" panose="020F0502020204030204" pitchFamily="34" charset="0"/>
                <a:ea typeface="Calibri" panose="020F0502020204030204" pitchFamily="34" charset="0"/>
                <a:cs typeface="Calibri" panose="020F0502020204030204" pitchFamily="34" charset="0"/>
              </a:rPr>
              <a:t>The columns/variable names included in research question - </a:t>
            </a:r>
            <a:r>
              <a:rPr lang="en-US" sz="3100" b="0" dirty="0" err="1">
                <a:latin typeface="Calibri" panose="020F0502020204030204" pitchFamily="34" charset="0"/>
                <a:ea typeface="Calibri" panose="020F0502020204030204" pitchFamily="34" charset="0"/>
                <a:cs typeface="Calibri" panose="020F0502020204030204" pitchFamily="34" charset="0"/>
              </a:rPr>
              <a:t>Pr</a:t>
            </a:r>
            <a:r>
              <a:rPr lang="en-IN" sz="3100" b="0" dirty="0">
                <a:latin typeface="Calibri" panose="020F0502020204030204" pitchFamily="34" charset="0"/>
                <a:ea typeface="Calibri" panose="020F0502020204030204" pitchFamily="34" charset="0"/>
                <a:cs typeface="Calibri" panose="020F0502020204030204" pitchFamily="34" charset="0"/>
              </a:rPr>
              <a:t>ice and Rating</a:t>
            </a:r>
            <a:r>
              <a:rPr lang="en-IN" sz="3100" dirty="0">
                <a:latin typeface="Calibri" panose="020F0502020204030204" pitchFamily="34" charset="0"/>
                <a:ea typeface="Calibri" panose="020F0502020204030204" pitchFamily="34" charset="0"/>
                <a:cs typeface="Calibri" panose="020F0502020204030204" pitchFamily="34" charset="0"/>
              </a:rPr>
              <a:t>.</a:t>
            </a:r>
            <a:endParaRPr lang="en-US" sz="3100" b="0" dirty="0">
              <a:latin typeface="Calibri" panose="020F0502020204030204" pitchFamily="34" charset="0"/>
              <a:ea typeface="Calibri" panose="020F0502020204030204" pitchFamily="34" charset="0"/>
              <a:cs typeface="Calibri" panose="020F0502020204030204" pitchFamily="34" charset="0"/>
            </a:endParaRPr>
          </a:p>
          <a:p>
            <a:pPr marL="742950" indent="-742950">
              <a:lnSpc>
                <a:spcPts val="2880"/>
              </a:lnSpc>
              <a:spcBef>
                <a:spcPts val="0"/>
              </a:spcBef>
              <a:spcAft>
                <a:spcPts val="992"/>
              </a:spcAft>
              <a:buAutoNum type="arabicPeriod"/>
            </a:pPr>
            <a:r>
              <a:rPr lang="en-GB" sz="3100" b="0" dirty="0">
                <a:latin typeface="Calibri" panose="020F0502020204030204" pitchFamily="34" charset="0"/>
                <a:ea typeface="Calibri" panose="020F0502020204030204" pitchFamily="34" charset="0"/>
                <a:cs typeface="Calibri" panose="020F0502020204030204" pitchFamily="34" charset="0"/>
              </a:rPr>
              <a:t>Dataset </a:t>
            </a:r>
            <a:r>
              <a:rPr lang="en-US" sz="3100" b="0" dirty="0">
                <a:latin typeface="Calibri" panose="020F0502020204030204" pitchFamily="34" charset="0"/>
                <a:ea typeface="Calibri" panose="020F0502020204030204" pitchFamily="34" charset="0"/>
                <a:cs typeface="Calibri" panose="020F0502020204030204" pitchFamily="34" charset="0"/>
              </a:rPr>
              <a:t>:</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marL="742950" indent="-742950">
              <a:lnSpc>
                <a:spcPts val="2880"/>
              </a:lnSpc>
              <a:spcBef>
                <a:spcPts val="0"/>
              </a:spcBef>
              <a:spcAft>
                <a:spcPts val="992"/>
              </a:spcAft>
              <a:buAutoNum type="arabicPeriod"/>
            </a:pPr>
            <a:r>
              <a:rPr lang="en-GB" sz="3100" b="0" dirty="0">
                <a:latin typeface="Calibri" panose="020F0502020204030204" pitchFamily="34" charset="0"/>
                <a:ea typeface="Calibri" panose="020F0502020204030204" pitchFamily="34" charset="0"/>
                <a:cs typeface="Calibri" panose="020F0502020204030204" pitchFamily="34" charset="0"/>
              </a:rPr>
              <a:t>Total rows in the dataset - 981</a:t>
            </a:r>
            <a:br>
              <a:rPr lang="en-GB" sz="2000" dirty="0">
                <a:cs typeface="Arial"/>
              </a:rPr>
            </a:br>
            <a:endParaRPr lang="en-GB" sz="2000" dirty="0">
              <a:cs typeface="Arial"/>
            </a:endParaRPr>
          </a:p>
          <a:p>
            <a:endParaRPr lang="en-US" sz="5400" dirty="0">
              <a:cs typeface="Arial"/>
            </a:endParaRPr>
          </a:p>
        </p:txBody>
      </p:sp>
      <p:graphicFrame>
        <p:nvGraphicFramePr>
          <p:cNvPr id="6" name="Table 5">
            <a:extLst>
              <a:ext uri="{FF2B5EF4-FFF2-40B4-BE49-F238E27FC236}">
                <a16:creationId xmlns:a16="http://schemas.microsoft.com/office/drawing/2014/main" id="{1FECAE6A-D337-C67E-B55C-4386964859F8}"/>
              </a:ext>
            </a:extLst>
          </p:cNvPr>
          <p:cNvGraphicFramePr>
            <a:graphicFrameLocks noGrp="1"/>
          </p:cNvGraphicFramePr>
          <p:nvPr>
            <p:extLst>
              <p:ext uri="{D42A27DB-BD31-4B8C-83A1-F6EECF244321}">
                <p14:modId xmlns:p14="http://schemas.microsoft.com/office/powerpoint/2010/main" val="255575462"/>
              </p:ext>
            </p:extLst>
          </p:nvPr>
        </p:nvGraphicFramePr>
        <p:xfrm>
          <a:off x="1377147" y="2839246"/>
          <a:ext cx="8514104" cy="2031570"/>
        </p:xfrm>
        <a:graphic>
          <a:graphicData uri="http://schemas.openxmlformats.org/drawingml/2006/table">
            <a:tbl>
              <a:tblPr>
                <a:tableStyleId>{616DA210-FB5B-4158-B5E0-FEB733F419BA}</a:tableStyleId>
              </a:tblPr>
              <a:tblGrid>
                <a:gridCol w="2128526">
                  <a:extLst>
                    <a:ext uri="{9D8B030D-6E8A-4147-A177-3AD203B41FA5}">
                      <a16:colId xmlns:a16="http://schemas.microsoft.com/office/drawing/2014/main" val="1965958538"/>
                    </a:ext>
                  </a:extLst>
                </a:gridCol>
                <a:gridCol w="3272845">
                  <a:extLst>
                    <a:ext uri="{9D8B030D-6E8A-4147-A177-3AD203B41FA5}">
                      <a16:colId xmlns:a16="http://schemas.microsoft.com/office/drawing/2014/main" val="838368573"/>
                    </a:ext>
                  </a:extLst>
                </a:gridCol>
                <a:gridCol w="984207">
                  <a:extLst>
                    <a:ext uri="{9D8B030D-6E8A-4147-A177-3AD203B41FA5}">
                      <a16:colId xmlns:a16="http://schemas.microsoft.com/office/drawing/2014/main" val="1999819366"/>
                    </a:ext>
                  </a:extLst>
                </a:gridCol>
                <a:gridCol w="2128526">
                  <a:extLst>
                    <a:ext uri="{9D8B030D-6E8A-4147-A177-3AD203B41FA5}">
                      <a16:colId xmlns:a16="http://schemas.microsoft.com/office/drawing/2014/main" val="1933248402"/>
                    </a:ext>
                  </a:extLst>
                </a:gridCol>
              </a:tblGrid>
              <a:tr h="272439">
                <a:tc>
                  <a:txBody>
                    <a:bodyPr/>
                    <a:lstStyle/>
                    <a:p>
                      <a:pPr>
                        <a:buNone/>
                      </a:pPr>
                      <a:r>
                        <a:rPr lang="en-IN" sz="1600" b="1"/>
                        <a:t>brand_name</a:t>
                      </a:r>
                      <a:endParaRPr lang="en-IN" sz="1600" b="1" dirty="0"/>
                    </a:p>
                  </a:txBody>
                  <a:tcPr anchor="ctr"/>
                </a:tc>
                <a:tc>
                  <a:txBody>
                    <a:bodyPr/>
                    <a:lstStyle/>
                    <a:p>
                      <a:pPr>
                        <a:buNone/>
                      </a:pPr>
                      <a:r>
                        <a:rPr lang="en-IN" sz="1600" b="1" dirty="0"/>
                        <a:t>model</a:t>
                      </a:r>
                    </a:p>
                  </a:txBody>
                  <a:tcPr anchor="ctr"/>
                </a:tc>
                <a:tc>
                  <a:txBody>
                    <a:bodyPr/>
                    <a:lstStyle/>
                    <a:p>
                      <a:pPr>
                        <a:buNone/>
                      </a:pPr>
                      <a:r>
                        <a:rPr lang="en-IN" sz="1600" b="1" dirty="0"/>
                        <a:t>price</a:t>
                      </a:r>
                    </a:p>
                  </a:txBody>
                  <a:tcPr anchor="ctr"/>
                </a:tc>
                <a:tc>
                  <a:txBody>
                    <a:bodyPr/>
                    <a:lstStyle/>
                    <a:p>
                      <a:pPr>
                        <a:buNone/>
                      </a:pPr>
                      <a:r>
                        <a:rPr lang="en-IN" sz="1600" b="1" dirty="0"/>
                        <a:t>rating</a:t>
                      </a:r>
                    </a:p>
                  </a:txBody>
                  <a:tcPr anchor="ctr"/>
                </a:tc>
                <a:extLst>
                  <a:ext uri="{0D108BD9-81ED-4DB2-BD59-A6C34878D82A}">
                    <a16:rowId xmlns:a16="http://schemas.microsoft.com/office/drawing/2014/main" val="2657774170"/>
                  </a:ext>
                </a:extLst>
              </a:tr>
              <a:tr h="339258">
                <a:tc>
                  <a:txBody>
                    <a:bodyPr/>
                    <a:lstStyle/>
                    <a:p>
                      <a:pPr>
                        <a:buNone/>
                      </a:pPr>
                      <a:r>
                        <a:rPr lang="en-IN" sz="1600"/>
                        <a:t>oneplus</a:t>
                      </a:r>
                    </a:p>
                  </a:txBody>
                  <a:tcPr anchor="ctr"/>
                </a:tc>
                <a:tc>
                  <a:txBody>
                    <a:bodyPr/>
                    <a:lstStyle/>
                    <a:p>
                      <a:pPr>
                        <a:buNone/>
                      </a:pPr>
                      <a:r>
                        <a:rPr lang="en-IN" sz="1600" dirty="0"/>
                        <a:t>OnePlus 11 5G</a:t>
                      </a:r>
                    </a:p>
                  </a:txBody>
                  <a:tcPr anchor="ctr"/>
                </a:tc>
                <a:tc>
                  <a:txBody>
                    <a:bodyPr/>
                    <a:lstStyle/>
                    <a:p>
                      <a:pPr>
                        <a:buNone/>
                      </a:pPr>
                      <a:r>
                        <a:rPr lang="en-IN" sz="1600"/>
                        <a:t>54999</a:t>
                      </a:r>
                    </a:p>
                  </a:txBody>
                  <a:tcPr anchor="ctr"/>
                </a:tc>
                <a:tc>
                  <a:txBody>
                    <a:bodyPr/>
                    <a:lstStyle/>
                    <a:p>
                      <a:pPr>
                        <a:buNone/>
                      </a:pPr>
                      <a:r>
                        <a:rPr lang="en-IN" sz="1600"/>
                        <a:t>89</a:t>
                      </a:r>
                    </a:p>
                  </a:txBody>
                  <a:tcPr anchor="ctr"/>
                </a:tc>
                <a:extLst>
                  <a:ext uri="{0D108BD9-81ED-4DB2-BD59-A6C34878D82A}">
                    <a16:rowId xmlns:a16="http://schemas.microsoft.com/office/drawing/2014/main" val="2977753115"/>
                  </a:ext>
                </a:extLst>
              </a:tr>
              <a:tr h="339258">
                <a:tc>
                  <a:txBody>
                    <a:bodyPr/>
                    <a:lstStyle/>
                    <a:p>
                      <a:pPr>
                        <a:buNone/>
                      </a:pPr>
                      <a:r>
                        <a:rPr lang="en-IN" sz="1600" dirty="0"/>
                        <a:t>samsung</a:t>
                      </a:r>
                    </a:p>
                  </a:txBody>
                  <a:tcPr anchor="ctr"/>
                </a:tc>
                <a:tc>
                  <a:txBody>
                    <a:bodyPr/>
                    <a:lstStyle/>
                    <a:p>
                      <a:pPr>
                        <a:buNone/>
                      </a:pPr>
                      <a:r>
                        <a:rPr lang="en-IN" sz="1600" dirty="0"/>
                        <a:t>Samsung Galaxy A14 5G</a:t>
                      </a:r>
                    </a:p>
                  </a:txBody>
                  <a:tcPr anchor="ctr"/>
                </a:tc>
                <a:tc>
                  <a:txBody>
                    <a:bodyPr/>
                    <a:lstStyle/>
                    <a:p>
                      <a:pPr>
                        <a:buNone/>
                      </a:pPr>
                      <a:r>
                        <a:rPr lang="en-IN" sz="1600"/>
                        <a:t>16499</a:t>
                      </a:r>
                    </a:p>
                  </a:txBody>
                  <a:tcPr anchor="ctr"/>
                </a:tc>
                <a:tc>
                  <a:txBody>
                    <a:bodyPr/>
                    <a:lstStyle/>
                    <a:p>
                      <a:pPr>
                        <a:buNone/>
                      </a:pPr>
                      <a:r>
                        <a:rPr lang="en-IN" sz="1600"/>
                        <a:t>75</a:t>
                      </a:r>
                    </a:p>
                  </a:txBody>
                  <a:tcPr anchor="ctr"/>
                </a:tc>
                <a:extLst>
                  <a:ext uri="{0D108BD9-81ED-4DB2-BD59-A6C34878D82A}">
                    <a16:rowId xmlns:a16="http://schemas.microsoft.com/office/drawing/2014/main" val="495042207"/>
                  </a:ext>
                </a:extLst>
              </a:tr>
              <a:tr h="339258">
                <a:tc>
                  <a:txBody>
                    <a:bodyPr/>
                    <a:lstStyle/>
                    <a:p>
                      <a:pPr>
                        <a:buNone/>
                      </a:pPr>
                      <a:r>
                        <a:rPr lang="en-IN" sz="1600" dirty="0"/>
                        <a:t>apple</a:t>
                      </a:r>
                    </a:p>
                  </a:txBody>
                  <a:tcPr anchor="ctr"/>
                </a:tc>
                <a:tc>
                  <a:txBody>
                    <a:bodyPr/>
                    <a:lstStyle/>
                    <a:p>
                      <a:pPr>
                        <a:buNone/>
                      </a:pPr>
                      <a:r>
                        <a:rPr lang="en-IN" sz="1600"/>
                        <a:t>Apple iPhone 14</a:t>
                      </a:r>
                    </a:p>
                  </a:txBody>
                  <a:tcPr anchor="ctr"/>
                </a:tc>
                <a:tc>
                  <a:txBody>
                    <a:bodyPr/>
                    <a:lstStyle/>
                    <a:p>
                      <a:pPr>
                        <a:buNone/>
                      </a:pPr>
                      <a:r>
                        <a:rPr lang="en-IN" sz="1600"/>
                        <a:t>65999</a:t>
                      </a:r>
                    </a:p>
                  </a:txBody>
                  <a:tcPr anchor="ctr"/>
                </a:tc>
                <a:tc>
                  <a:txBody>
                    <a:bodyPr/>
                    <a:lstStyle/>
                    <a:p>
                      <a:pPr>
                        <a:buNone/>
                      </a:pPr>
                      <a:r>
                        <a:rPr lang="en-IN" sz="1600"/>
                        <a:t>81</a:t>
                      </a:r>
                    </a:p>
                  </a:txBody>
                  <a:tcPr anchor="ctr"/>
                </a:tc>
                <a:extLst>
                  <a:ext uri="{0D108BD9-81ED-4DB2-BD59-A6C34878D82A}">
                    <a16:rowId xmlns:a16="http://schemas.microsoft.com/office/drawing/2014/main" val="82370684"/>
                  </a:ext>
                </a:extLst>
              </a:tr>
              <a:tr h="339258">
                <a:tc>
                  <a:txBody>
                    <a:bodyPr/>
                    <a:lstStyle/>
                    <a:p>
                      <a:pPr>
                        <a:buNone/>
                      </a:pPr>
                      <a:r>
                        <a:rPr lang="en-IN" sz="1600"/>
                        <a:t>xiaomi</a:t>
                      </a:r>
                    </a:p>
                  </a:txBody>
                  <a:tcPr anchor="ctr"/>
                </a:tc>
                <a:tc>
                  <a:txBody>
                    <a:bodyPr/>
                    <a:lstStyle/>
                    <a:p>
                      <a:pPr>
                        <a:buNone/>
                      </a:pPr>
                      <a:r>
                        <a:rPr lang="it-IT" sz="1600"/>
                        <a:t>Redmi Note 12 Pro Plus</a:t>
                      </a:r>
                    </a:p>
                  </a:txBody>
                  <a:tcPr anchor="ctr"/>
                </a:tc>
                <a:tc>
                  <a:txBody>
                    <a:bodyPr/>
                    <a:lstStyle/>
                    <a:p>
                      <a:pPr>
                        <a:buNone/>
                      </a:pPr>
                      <a:r>
                        <a:rPr lang="en-IN" sz="1600"/>
                        <a:t>29999</a:t>
                      </a:r>
                    </a:p>
                  </a:txBody>
                  <a:tcPr anchor="ctr"/>
                </a:tc>
                <a:tc>
                  <a:txBody>
                    <a:bodyPr/>
                    <a:lstStyle/>
                    <a:p>
                      <a:pPr>
                        <a:buNone/>
                      </a:pPr>
                      <a:r>
                        <a:rPr lang="en-IN" sz="1600"/>
                        <a:t>86</a:t>
                      </a:r>
                    </a:p>
                  </a:txBody>
                  <a:tcPr anchor="ctr"/>
                </a:tc>
                <a:extLst>
                  <a:ext uri="{0D108BD9-81ED-4DB2-BD59-A6C34878D82A}">
                    <a16:rowId xmlns:a16="http://schemas.microsoft.com/office/drawing/2014/main" val="715426488"/>
                  </a:ext>
                </a:extLst>
              </a:tr>
              <a:tr h="339258">
                <a:tc>
                  <a:txBody>
                    <a:bodyPr/>
                    <a:lstStyle/>
                    <a:p>
                      <a:pPr>
                        <a:buNone/>
                      </a:pPr>
                      <a:r>
                        <a:rPr lang="en-IN" sz="1600"/>
                        <a:t>nothing</a:t>
                      </a:r>
                    </a:p>
                  </a:txBody>
                  <a:tcPr anchor="ctr"/>
                </a:tc>
                <a:tc>
                  <a:txBody>
                    <a:bodyPr/>
                    <a:lstStyle/>
                    <a:p>
                      <a:pPr>
                        <a:buNone/>
                      </a:pPr>
                      <a:r>
                        <a:rPr lang="en-IN" sz="1600" dirty="0"/>
                        <a:t>Nothing Phone 1</a:t>
                      </a:r>
                    </a:p>
                  </a:txBody>
                  <a:tcPr anchor="ctr"/>
                </a:tc>
                <a:tc>
                  <a:txBody>
                    <a:bodyPr/>
                    <a:lstStyle/>
                    <a:p>
                      <a:pPr>
                        <a:buNone/>
                      </a:pPr>
                      <a:r>
                        <a:rPr lang="en-IN" sz="1600" dirty="0"/>
                        <a:t>26749</a:t>
                      </a:r>
                    </a:p>
                  </a:txBody>
                  <a:tcPr anchor="ctr"/>
                </a:tc>
                <a:tc>
                  <a:txBody>
                    <a:bodyPr/>
                    <a:lstStyle/>
                    <a:p>
                      <a:pPr>
                        <a:buNone/>
                      </a:pPr>
                      <a:r>
                        <a:rPr lang="en-IN" sz="1600" dirty="0"/>
                        <a:t>85</a:t>
                      </a:r>
                    </a:p>
                  </a:txBody>
                  <a:tcPr anchor="ctr"/>
                </a:tc>
                <a:extLst>
                  <a:ext uri="{0D108BD9-81ED-4DB2-BD59-A6C34878D82A}">
                    <a16:rowId xmlns:a16="http://schemas.microsoft.com/office/drawing/2014/main" val="200953085"/>
                  </a:ext>
                </a:extLst>
              </a:tr>
            </a:tbl>
          </a:graphicData>
        </a:graphic>
      </p:graphicFrame>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sz="1600" dirty="0">
                <a:solidFill>
                  <a:srgbClr val="FF0000"/>
                </a:solidFill>
                <a:highlight>
                  <a:srgbClr val="FFFF00"/>
                </a:highlight>
              </a:rPr>
              <a:t> </a:t>
            </a:r>
            <a:endParaRPr lang="en-US" sz="2400" dirty="0">
              <a:solidFill>
                <a:srgbClr val="FF0000"/>
              </a:solidFill>
              <a:highlight>
                <a:srgbClr val="FFFF00"/>
              </a:highlight>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solidFill>
                  <a:schemeClr val="tx1"/>
                </a:solidFill>
                <a:latin typeface="Calibri" panose="020F0502020204030204" pitchFamily="34" charset="0"/>
                <a:ea typeface="Calibri" panose="020F0502020204030204" pitchFamily="34" charset="0"/>
                <a:cs typeface="Calibri" panose="020F0502020204030204" pitchFamily="34" charset="0"/>
              </a:rPr>
              <a:t>7COM1079-2025  Student Group No:  A17                  Names of Student Group Attendees: 5</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828877" y="2371811"/>
            <a:ext cx="10974945" cy="2874746"/>
          </a:xfrm>
        </p:spPr>
        <p:txBody>
          <a:bodyPr>
            <a:noAutofit/>
          </a:bodyPr>
          <a:lstStyle/>
          <a:p>
            <a:pPr>
              <a:lnSpc>
                <a:spcPct val="100000"/>
              </a:lnSpc>
            </a:pPr>
            <a:r>
              <a:rPr lang="en-US" sz="2800" b="0" dirty="0">
                <a:latin typeface="Calibri" panose="020F0502020204030204" pitchFamily="34" charset="0"/>
                <a:ea typeface="Calibri" panose="020F0502020204030204" pitchFamily="34" charset="0"/>
                <a:cs typeface="Calibri" panose="020F0502020204030204" pitchFamily="34" charset="0"/>
              </a:rPr>
              <a:t> This dataset is interesting to us because it allows us to examine how smartphone hardware characteristics relate to user ratings , price and perceived quality.</a:t>
            </a:r>
            <a:br>
              <a:rPr lang="en-US" sz="2800" b="0" dirty="0">
                <a:latin typeface="Calibri" panose="020F0502020204030204" pitchFamily="34" charset="0"/>
                <a:ea typeface="Calibri" panose="020F0502020204030204" pitchFamily="34" charset="0"/>
                <a:cs typeface="Calibri" panose="020F0502020204030204" pitchFamily="34" charset="0"/>
              </a:rPr>
            </a:br>
            <a:r>
              <a:rPr lang="en-US" sz="2800" b="0" dirty="0">
                <a:latin typeface="Calibri" panose="020F0502020204030204" pitchFamily="34" charset="0"/>
                <a:ea typeface="Calibri" panose="020F0502020204030204" pitchFamily="34" charset="0"/>
                <a:cs typeface="Calibri" panose="020F0502020204030204" pitchFamily="34" charset="0"/>
              </a:rPr>
              <a:t>Independent variable is         : </a:t>
            </a:r>
            <a:r>
              <a:rPr lang="en-IN" sz="2800" b="0" dirty="0">
                <a:latin typeface="Calibri" panose="020F0502020204030204" pitchFamily="34" charset="0"/>
                <a:ea typeface="Calibri" panose="020F0502020204030204" pitchFamily="34" charset="0"/>
                <a:cs typeface="Calibri" panose="020F0502020204030204" pitchFamily="34" charset="0"/>
              </a:rPr>
              <a:t>Price</a:t>
            </a:r>
            <a:br>
              <a:rPr lang="en-US" sz="2800" b="0" dirty="0">
                <a:latin typeface="Calibri" panose="020F0502020204030204" pitchFamily="34" charset="0"/>
                <a:ea typeface="Calibri" panose="020F0502020204030204" pitchFamily="34" charset="0"/>
                <a:cs typeface="Calibri" panose="020F0502020204030204" pitchFamily="34" charset="0"/>
              </a:rPr>
            </a:br>
            <a:r>
              <a:rPr lang="en-US" sz="2800" b="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2800" b="0" dirty="0">
                <a:latin typeface="Calibri" panose="020F0502020204030204" pitchFamily="34" charset="0"/>
                <a:ea typeface="Calibri" panose="020F0502020204030204" pitchFamily="34" charset="0"/>
                <a:cs typeface="Calibri" panose="020F0502020204030204" pitchFamily="34" charset="0"/>
              </a:rPr>
              <a:t>This  Independent variable datatype is : </a:t>
            </a:r>
            <a:r>
              <a:rPr lang="en-US" sz="2800" b="0" dirty="0">
                <a:solidFill>
                  <a:srgbClr val="FF0000"/>
                </a:solidFill>
                <a:latin typeface="Calibri" panose="020F0502020204030204" pitchFamily="34" charset="0"/>
                <a:ea typeface="Calibri" panose="020F0502020204030204" pitchFamily="34" charset="0"/>
                <a:cs typeface="Calibri" panose="020F0502020204030204" pitchFamily="34" charset="0"/>
              </a:rPr>
              <a:t>Interval/measurement data</a:t>
            </a:r>
            <a:br>
              <a:rPr lang="en-US" sz="2800" b="0" dirty="0">
                <a:latin typeface="Calibri" panose="020F0502020204030204" pitchFamily="34" charset="0"/>
                <a:ea typeface="Calibri" panose="020F0502020204030204" pitchFamily="34" charset="0"/>
                <a:cs typeface="Calibri" panose="020F0502020204030204" pitchFamily="34" charset="0"/>
              </a:rPr>
            </a:br>
            <a:r>
              <a:rPr lang="en-US" sz="2800" b="0" dirty="0">
                <a:latin typeface="Calibri" panose="020F0502020204030204" pitchFamily="34" charset="0"/>
                <a:ea typeface="Calibri" panose="020F0502020204030204" pitchFamily="34" charset="0"/>
                <a:cs typeface="Calibri" panose="020F0502020204030204" pitchFamily="34" charset="0"/>
              </a:rPr>
              <a:t>Our Dependent variable is   : </a:t>
            </a:r>
            <a:r>
              <a:rPr lang="en-IN" sz="2800" b="0" dirty="0">
                <a:latin typeface="Calibri" panose="020F0502020204030204" pitchFamily="34" charset="0"/>
                <a:ea typeface="Calibri" panose="020F0502020204030204" pitchFamily="34" charset="0"/>
                <a:cs typeface="Calibri" panose="020F0502020204030204" pitchFamily="34" charset="0"/>
              </a:rPr>
              <a:t>Rating</a:t>
            </a:r>
            <a:br>
              <a:rPr lang="en-US" sz="2800" b="0" dirty="0">
                <a:latin typeface="Calibri" panose="020F0502020204030204" pitchFamily="34" charset="0"/>
                <a:ea typeface="Calibri" panose="020F0502020204030204" pitchFamily="34" charset="0"/>
                <a:cs typeface="Calibri" panose="020F0502020204030204" pitchFamily="34" charset="0"/>
              </a:rPr>
            </a:br>
            <a:r>
              <a:rPr lang="en-US" sz="2800" b="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2800" b="0" dirty="0">
                <a:latin typeface="Calibri" panose="020F0502020204030204" pitchFamily="34" charset="0"/>
                <a:ea typeface="Calibri" panose="020F0502020204030204" pitchFamily="34" charset="0"/>
                <a:cs typeface="Calibri" panose="020F0502020204030204" pitchFamily="34" charset="0"/>
              </a:rPr>
              <a:t>This Dependent variable datatype is  	   : </a:t>
            </a:r>
            <a:r>
              <a:rPr lang="en-US" sz="2800" b="0" dirty="0">
                <a:solidFill>
                  <a:srgbClr val="FF0000"/>
                </a:solidFill>
                <a:latin typeface="Calibri" panose="020F0502020204030204" pitchFamily="34" charset="0"/>
                <a:ea typeface="Calibri" panose="020F0502020204030204" pitchFamily="34" charset="0"/>
                <a:cs typeface="Calibri" panose="020F0502020204030204" pitchFamily="34" charset="0"/>
              </a:rPr>
              <a:t>Interval/measurement data</a:t>
            </a:r>
          </a:p>
        </p:txBody>
      </p:sp>
      <p:sp>
        <p:nvSpPr>
          <p:cNvPr id="6" name="TextBox 5">
            <a:extLst>
              <a:ext uri="{FF2B5EF4-FFF2-40B4-BE49-F238E27FC236}">
                <a16:creationId xmlns:a16="http://schemas.microsoft.com/office/drawing/2014/main" id="{BFAA3606-9CE0-E163-3A42-23B4E67C3CD8}"/>
              </a:ext>
            </a:extLst>
          </p:cNvPr>
          <p:cNvSpPr txBox="1"/>
          <p:nvPr/>
        </p:nvSpPr>
        <p:spPr>
          <a:xfrm>
            <a:off x="749508" y="1285092"/>
            <a:ext cx="10110240" cy="584775"/>
          </a:xfrm>
          <a:prstGeom prst="rect">
            <a:avLst/>
          </a:prstGeom>
          <a:noFill/>
        </p:spPr>
        <p:txBody>
          <a:bodyPr wrap="square" rtlCol="0">
            <a:spAutoFit/>
          </a:bodyPr>
          <a:lstStyle/>
          <a:p>
            <a:r>
              <a:rPr lang="en-IN" sz="3200" b="1" dirty="0">
                <a:latin typeface="Calibri" panose="020F0502020204030204" pitchFamily="34" charset="0"/>
                <a:ea typeface="Calibri" panose="020F0502020204030204" pitchFamily="34" charset="0"/>
                <a:cs typeface="Calibri" panose="020F0502020204030204" pitchFamily="34" charset="0"/>
              </a:rPr>
              <a:t>SMARTPHONE_CLEANED_V5 : ds092</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440489"/>
            <a:ext cx="9753625" cy="230832"/>
          </a:xfrm>
        </p:spPr>
        <p:txBody>
          <a:bodyPr/>
          <a:lstStyle/>
          <a:p>
            <a:pPr>
              <a:spcAft>
                <a:spcPts val="0"/>
              </a:spcAft>
            </a:pPr>
            <a:r>
              <a:rPr lang="en-GB" sz="4400" dirty="0">
                <a:latin typeface="Calibri" panose="020F0502020204030204" pitchFamily="34" charset="0"/>
                <a:ea typeface="Calibri" panose="020F0502020204030204" pitchFamily="34" charset="0"/>
                <a:cs typeface="Calibri" panose="020F0502020204030204" pitchFamily="34" charset="0"/>
              </a:rPr>
              <a:t>Our Research Question is</a:t>
            </a:r>
            <a:endParaRPr lang="en-GB" sz="4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solidFill>
                  <a:schemeClr val="tx1"/>
                </a:solidFill>
              </a:rPr>
              <a:t>PRE 7COM1079-2025  Student Group No:  A17</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882993" y="2089957"/>
            <a:ext cx="10640594" cy="2678085"/>
          </a:xfrm>
        </p:spPr>
        <p:txBody>
          <a:bodyPr>
            <a:noAutofit/>
          </a:bodyPr>
          <a:lstStyle/>
          <a:p>
            <a:pPr>
              <a:lnSpc>
                <a:spcPct val="100000"/>
              </a:lnSpc>
            </a:pPr>
            <a:r>
              <a:rPr lang="en-IE" sz="2400" b="0" dirty="0">
                <a:effectLst/>
                <a:latin typeface="Calibri"/>
                <a:ea typeface="Calibri" panose="020F0502020204030204" pitchFamily="34" charset="0"/>
                <a:cs typeface="Times New Roman"/>
              </a:rPr>
              <a:t>“Is there a correlation between </a:t>
            </a:r>
            <a:r>
              <a:rPr lang="en-IE" sz="2400" b="0" dirty="0">
                <a:solidFill>
                  <a:srgbClr val="0070C0"/>
                </a:solidFill>
                <a:latin typeface="Calibri"/>
                <a:ea typeface="Calibri" panose="020F0502020204030204" pitchFamily="34" charset="0"/>
                <a:cs typeface="Times New Roman"/>
              </a:rPr>
              <a:t> </a:t>
            </a:r>
            <a:r>
              <a:rPr lang="en-US" sz="2400" b="0" dirty="0">
                <a:solidFill>
                  <a:srgbClr val="0070C0"/>
                </a:solidFill>
                <a:latin typeface="Calibri"/>
                <a:ea typeface="Calibri" panose="020F0502020204030204" pitchFamily="34" charset="0"/>
                <a:cs typeface="Times New Roman"/>
              </a:rPr>
              <a:t>P</a:t>
            </a:r>
            <a:r>
              <a:rPr lang="en-US" sz="2400" b="0" dirty="0">
                <a:solidFill>
                  <a:srgbClr val="0070C0"/>
                </a:solidFill>
                <a:effectLst/>
                <a:latin typeface="Calibri"/>
                <a:ea typeface="Calibri" panose="020F0502020204030204" pitchFamily="34" charset="0"/>
                <a:cs typeface="Times New Roman"/>
              </a:rPr>
              <a:t>rice and Smartphone </a:t>
            </a:r>
            <a:r>
              <a:rPr lang="en-US" sz="2400" b="0" dirty="0">
                <a:solidFill>
                  <a:srgbClr val="0070C0"/>
                </a:solidFill>
                <a:latin typeface="Calibri"/>
                <a:ea typeface="Calibri" panose="020F0502020204030204" pitchFamily="34" charset="0"/>
                <a:cs typeface="Times New Roman"/>
              </a:rPr>
              <a:t>R</a:t>
            </a:r>
            <a:r>
              <a:rPr lang="en-US" sz="2400" b="0" dirty="0">
                <a:solidFill>
                  <a:srgbClr val="0070C0"/>
                </a:solidFill>
                <a:effectLst/>
                <a:latin typeface="Calibri"/>
                <a:ea typeface="Calibri" panose="020F0502020204030204" pitchFamily="34" charset="0"/>
                <a:cs typeface="Times New Roman"/>
              </a:rPr>
              <a:t>ating?</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4657" y="1425345"/>
            <a:ext cx="10774634" cy="4007309"/>
          </a:xfrm>
        </p:spPr>
        <p:txBody>
          <a:bodyPr vert="horz" lIns="0" tIns="0" rIns="0" bIns="0" rtlCol="0" anchor="t">
            <a:noAutofit/>
          </a:bodyPr>
          <a:lstStyle/>
          <a:p>
            <a:pPr>
              <a:lnSpc>
                <a:spcPct val="100000"/>
              </a:lnSpc>
            </a:pPr>
            <a:endParaRPr lang="en-GB" sz="2000" b="0" dirty="0">
              <a:solidFill>
                <a:srgbClr val="FF0000"/>
              </a:solidFill>
              <a:latin typeface="Arial"/>
              <a:cs typeface="Arial"/>
            </a:endParaRPr>
          </a:p>
          <a:p>
            <a:pPr>
              <a:lnSpc>
                <a:spcPct val="100000"/>
              </a:lnSpc>
            </a:pPr>
            <a:r>
              <a:rPr lang="en-GB" sz="2400" b="0" dirty="0">
                <a:solidFill>
                  <a:srgbClr val="FF0000"/>
                </a:solidFill>
                <a:latin typeface="Calibri" panose="020F0502020204030204" pitchFamily="34" charset="0"/>
                <a:ea typeface="Calibri" panose="020F0502020204030204" pitchFamily="34" charset="0"/>
                <a:cs typeface="Calibri" panose="020F0502020204030204" pitchFamily="34" charset="0"/>
              </a:rPr>
              <a:t>1.Null hypothesis (H</a:t>
            </a:r>
            <a:r>
              <a:rPr lang="en-GB" sz="2400" b="0" baseline="-25000" dirty="0">
                <a:solidFill>
                  <a:srgbClr val="FF0000"/>
                </a:solidFill>
                <a:latin typeface="Calibri" panose="020F0502020204030204" pitchFamily="34" charset="0"/>
                <a:ea typeface="Calibri" panose="020F0502020204030204" pitchFamily="34" charset="0"/>
                <a:cs typeface="Calibri" panose="020F0502020204030204" pitchFamily="34" charset="0"/>
              </a:rPr>
              <a:t>0</a:t>
            </a:r>
            <a:r>
              <a:rPr lang="en-GB" sz="2400" b="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p>
            <a:pPr>
              <a:lnSpc>
                <a:spcPct val="100000"/>
              </a:lnSpc>
            </a:pPr>
            <a:r>
              <a:rPr lang="en-US" sz="2400" b="0" dirty="0">
                <a:solidFill>
                  <a:schemeClr val="tx1"/>
                </a:solidFill>
                <a:latin typeface="Calibri" panose="020F0502020204030204" pitchFamily="34" charset="0"/>
                <a:ea typeface="Calibri" panose="020F0502020204030204" pitchFamily="34" charset="0"/>
                <a:cs typeface="Calibri" panose="020F0502020204030204" pitchFamily="34" charset="0"/>
              </a:rPr>
              <a:t>There is no correlation between </a:t>
            </a:r>
            <a:r>
              <a:rPr lang="en-IN" sz="2400" dirty="0">
                <a:latin typeface="Calibri" panose="020F0502020204030204" pitchFamily="34" charset="0"/>
                <a:ea typeface="Calibri" panose="020F0502020204030204" pitchFamily="34" charset="0"/>
                <a:cs typeface="Calibri" panose="020F0502020204030204" pitchFamily="34" charset="0"/>
              </a:rPr>
              <a:t>price and smartphone rating.</a:t>
            </a:r>
            <a:endParaRPr lang="en-GB" sz="2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en-GB" sz="2400" b="0" dirty="0">
                <a:solidFill>
                  <a:srgbClr val="FF0000"/>
                </a:solidFill>
                <a:latin typeface="Calibri" panose="020F0502020204030204" pitchFamily="34" charset="0"/>
                <a:ea typeface="Calibri" panose="020F0502020204030204" pitchFamily="34" charset="0"/>
                <a:cs typeface="Calibri" panose="020F0502020204030204" pitchFamily="34" charset="0"/>
              </a:rPr>
              <a:t>2. Alt hypothesis (H</a:t>
            </a:r>
            <a:r>
              <a:rPr lang="en-GB" sz="2400" b="0" baseline="-25000" dirty="0">
                <a:solidFill>
                  <a:srgbClr val="FF0000"/>
                </a:solidFill>
                <a:latin typeface="Calibri" panose="020F0502020204030204" pitchFamily="34" charset="0"/>
                <a:ea typeface="Calibri" panose="020F0502020204030204" pitchFamily="34" charset="0"/>
                <a:cs typeface="Calibri" panose="020F0502020204030204" pitchFamily="34" charset="0"/>
              </a:rPr>
              <a:t>1</a:t>
            </a:r>
            <a:r>
              <a:rPr lang="en-GB" sz="2400" b="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p>
            <a:pPr>
              <a:lnSpc>
                <a:spcPct val="100000"/>
              </a:lnSpc>
            </a:pPr>
            <a:r>
              <a:rPr lang="en-GB" sz="2400" b="0" dirty="0">
                <a:solidFill>
                  <a:schemeClr val="tx1"/>
                </a:solidFill>
                <a:latin typeface="Calibri" panose="020F0502020204030204" pitchFamily="34" charset="0"/>
                <a:ea typeface="Calibri" panose="020F0502020204030204" pitchFamily="34" charset="0"/>
                <a:cs typeface="Calibri" panose="020F0502020204030204" pitchFamily="34" charset="0"/>
              </a:rPr>
              <a:t>There is a correlation between </a:t>
            </a:r>
            <a:r>
              <a:rPr lang="en-IN" sz="2400" dirty="0">
                <a:latin typeface="Calibri" panose="020F0502020204030204" pitchFamily="34" charset="0"/>
                <a:ea typeface="Calibri" panose="020F0502020204030204" pitchFamily="34" charset="0"/>
                <a:cs typeface="Calibri" panose="020F0502020204030204" pitchFamily="34" charset="0"/>
              </a:rPr>
              <a:t>price and smartphone rating.</a:t>
            </a:r>
            <a:endParaRPr lang="en-US" sz="2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GB" sz="20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3" name="TextBox 2">
            <a:extLst>
              <a:ext uri="{FF2B5EF4-FFF2-40B4-BE49-F238E27FC236}">
                <a16:creationId xmlns:a16="http://schemas.microsoft.com/office/drawing/2014/main" id="{DD87DAB1-0639-C06E-5777-393A330F5BCE}"/>
              </a:ext>
            </a:extLst>
          </p:cNvPr>
          <p:cNvSpPr txBox="1"/>
          <p:nvPr/>
        </p:nvSpPr>
        <p:spPr>
          <a:xfrm>
            <a:off x="524657" y="659567"/>
            <a:ext cx="8604353" cy="646331"/>
          </a:xfrm>
          <a:prstGeom prst="rect">
            <a:avLst/>
          </a:prstGeom>
          <a:noFill/>
        </p:spPr>
        <p:txBody>
          <a:bodyPr wrap="square" rtlCol="0">
            <a:spAutoFit/>
          </a:bodyPr>
          <a:lstStyle/>
          <a:p>
            <a:r>
              <a:rPr lang="en-IN" sz="3600" b="1" dirty="0">
                <a:latin typeface="Calibri" panose="020F0502020204030204" pitchFamily="34" charset="0"/>
                <a:ea typeface="Calibri" panose="020F0502020204030204" pitchFamily="34" charset="0"/>
                <a:cs typeface="Calibri" panose="020F0502020204030204" pitchFamily="34" charset="0"/>
              </a:rPr>
              <a:t>HYPOTHESIS</a:t>
            </a: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450</Words>
  <Application>Microsoft Office PowerPoint</Application>
  <PresentationFormat>Widescreen</PresentationFormat>
  <Paragraphs>58</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Tutorial Presentation for Feedback Date:  10 -12 - 2025 </vt:lpstr>
      <vt:lpstr>The columns/variable names included in research question - Price and Rating. Dataset :       Total rows in the dataset - 981  </vt:lpstr>
      <vt:lpstr> This dataset is interesting to us because it allows us to examine how smartphone hardware characteristics relate to user ratings , price and perceived quality. Independent variable is         : Price                    This  Independent variable datatype is : Interval/measurement data Our Dependent variable is   : Rating                    This Dependent variable datatype is      : Interval/measurement data</vt:lpstr>
      <vt:lpstr>“Is there a correlation between  Price and Smartphone Rating?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2025-12-03T11:15:01Z</dcterms:created>
  <dcterms:modified xsi:type="dcterms:W3CDTF">2025-12-10T04:04:12Z</dcterms:modified>
</cp:coreProperties>
</file>